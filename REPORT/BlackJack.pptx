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3028"/>
    <a:srgbClr val="DE3F32"/>
    <a:srgbClr val="6C6560"/>
    <a:srgbClr val="FBFBFA"/>
    <a:srgbClr val="575757"/>
    <a:srgbClr val="B1ADA9"/>
    <a:srgbClr val="F2F2F2"/>
    <a:srgbClr val="CC3300"/>
    <a:srgbClr val="F9C2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90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980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9884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354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88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739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526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319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779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072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153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5AC56-B6E9-45EF-9ECA-93C441D53852}" type="datetimeFigureOut">
              <a:rPr lang="it-IT" smtClean="0"/>
              <a:t>28/06/2025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BB94D-2369-44F3-906B-F47B46AE9EC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0198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 descr="Immagine che contiene Carminio&#10;&#10;Il contenuto generato dall'IA potrebbe non essere corretto.">
            <a:extLst>
              <a:ext uri="{FF2B5EF4-FFF2-40B4-BE49-F238E27FC236}">
                <a16:creationId xmlns:a16="http://schemas.microsoft.com/office/drawing/2014/main" id="{AC31EE71-E4C8-AB25-4BEE-07D5757C66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F5A2AB79-7C1B-7692-CB62-7E99E5371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5127" y="1013516"/>
            <a:ext cx="5442411" cy="2809377"/>
          </a:xfrm>
          <a:effectLst>
            <a:outerShdw blurRad="50800" dist="38100" dir="5400000" algn="t" rotWithShape="0">
              <a:prstClr val="black">
                <a:alpha val="67000"/>
              </a:prstClr>
            </a:outerShdw>
          </a:effectLst>
        </p:spPr>
        <p:txBody>
          <a:bodyPr>
            <a:normAutofit/>
          </a:bodyPr>
          <a:lstStyle/>
          <a:p>
            <a:pPr algn="l"/>
            <a:r>
              <a:rPr lang="it-IT" sz="7200" b="1" dirty="0" err="1">
                <a:solidFill>
                  <a:srgbClr val="F2F2F2"/>
                </a:solidFill>
                <a:latin typeface="Rockwell Nova" panose="02060503020205020403" pitchFamily="18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BlackJack</a:t>
            </a:r>
            <a:r>
              <a:rPr lang="it-IT" sz="7200" b="1" dirty="0">
                <a:solidFill>
                  <a:srgbClr val="F2F2F2"/>
                </a:solidFill>
                <a:latin typeface="Rockwell Nova" panose="02060503020205020403" pitchFamily="18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br>
              <a:rPr lang="it-IT" sz="7200" b="1" dirty="0">
                <a:solidFill>
                  <a:srgbClr val="F2F2F2"/>
                </a:solidFill>
                <a:latin typeface="Rockwell Nova" panose="02060503020205020403" pitchFamily="18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it-IT" sz="7200" b="1" dirty="0">
                <a:solidFill>
                  <a:srgbClr val="F2F2F2"/>
                </a:solidFill>
                <a:latin typeface="Rockwell Nova" panose="02060503020205020403" pitchFamily="18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Advisor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11E0701-5139-7DD3-E559-20ACBA6F0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2639" y="3954116"/>
            <a:ext cx="6991173" cy="1764586"/>
          </a:xfrm>
          <a:effectLst>
            <a:outerShdw blurRad="50800" dist="38100" dir="5400000" algn="t" rotWithShape="0">
              <a:prstClr val="black">
                <a:alpha val="72000"/>
              </a:prstClr>
            </a:outerShdw>
          </a:effectLst>
        </p:spPr>
        <p:txBody>
          <a:bodyPr/>
          <a:lstStyle/>
          <a:p>
            <a:br>
              <a:rPr lang="en-US" b="1" dirty="0">
                <a:solidFill>
                  <a:srgbClr val="F2F2F2"/>
                </a:solidFill>
              </a:rPr>
            </a:br>
            <a:r>
              <a:rPr lang="en-US" b="1" dirty="0">
                <a:solidFill>
                  <a:srgbClr val="F2F2F2"/>
                </a:solidFill>
              </a:rPr>
              <a:t>Automatic Blackjack Hand Recognition and Fundamental Strategy Application Using Computer Vision</a:t>
            </a:r>
            <a:endParaRPr lang="it-IT" b="1" dirty="0">
              <a:solidFill>
                <a:srgbClr val="F2F2F2"/>
              </a:solidFill>
            </a:endParaRPr>
          </a:p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B7A050C-8AA8-1623-EA5E-33FE19652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407" y="1246331"/>
            <a:ext cx="2590720" cy="257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1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3FECF-0DBE-A14A-BD2F-A3E5E994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magine 27">
            <a:extLst>
              <a:ext uri="{FF2B5EF4-FFF2-40B4-BE49-F238E27FC236}">
                <a16:creationId xmlns:a16="http://schemas.microsoft.com/office/drawing/2014/main" id="{6CF939F4-636C-5422-16DB-8A4F51974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226" y="1409394"/>
            <a:ext cx="6510055" cy="4890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5E78BC29-E308-ADD2-5AFC-C3FE1983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43" y="123534"/>
            <a:ext cx="6464922" cy="127372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it-IT" sz="66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01 - </a:t>
            </a:r>
            <a:r>
              <a:rPr lang="it-IT" sz="6600" b="1" dirty="0" err="1">
                <a:solidFill>
                  <a:srgbClr val="6C656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Introduction</a:t>
            </a:r>
            <a:endParaRPr lang="it-IT" sz="6600" b="1" dirty="0">
              <a:solidFill>
                <a:srgbClr val="6C656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FF6B4AC-DA18-A1CD-F683-716449F856C6}"/>
              </a:ext>
            </a:extLst>
          </p:cNvPr>
          <p:cNvSpPr/>
          <p:nvPr/>
        </p:nvSpPr>
        <p:spPr>
          <a:xfrm>
            <a:off x="575034" y="1585229"/>
            <a:ext cx="3799132" cy="1503129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AE3BBEF-10B6-F366-0892-03204F9248F3}"/>
              </a:ext>
            </a:extLst>
          </p:cNvPr>
          <p:cNvSpPr txBox="1"/>
          <p:nvPr/>
        </p:nvSpPr>
        <p:spPr>
          <a:xfrm>
            <a:off x="519536" y="1736628"/>
            <a:ext cx="3899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Blackjack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</a:t>
            </a:r>
            <a:r>
              <a:rPr lang="it-IT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is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one of the </a:t>
            </a:r>
            <a:r>
              <a:rPr lang="it-IT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most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</a:t>
            </a:r>
            <a:r>
              <a:rPr lang="it-IT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popular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gambling games in the world due </a:t>
            </a:r>
            <a:r>
              <a:rPr lang="it-IT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its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</a:t>
            </a:r>
            <a:r>
              <a:rPr lang="it-IT" b="1" u="sng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semplicity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and </a:t>
            </a:r>
            <a:r>
              <a:rPr lang="it-IT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its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</a:t>
            </a:r>
            <a:r>
              <a:rPr lang="it-IT" b="1" u="sng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probability</a:t>
            </a:r>
            <a:r>
              <a:rPr lang="it-IT" b="1" u="sng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 of </a:t>
            </a:r>
            <a:r>
              <a:rPr lang="it-IT" b="1" u="sng" dirty="0" err="1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winning</a:t>
            </a:r>
            <a:r>
              <a:rPr lang="it-IT" dirty="0">
                <a:solidFill>
                  <a:srgbClr val="575757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ns Serif Collection" panose="020B0502040504020204" pitchFamily="34" charset="0"/>
              </a:rPr>
              <a:t>.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2FEB3975-AC53-B8D7-976B-CD00D3F1A7E9}"/>
              </a:ext>
            </a:extLst>
          </p:cNvPr>
          <p:cNvCxnSpPr>
            <a:cxnSpLocks/>
          </p:cNvCxnSpPr>
          <p:nvPr/>
        </p:nvCxnSpPr>
        <p:spPr>
          <a:xfrm>
            <a:off x="2469313" y="3141349"/>
            <a:ext cx="0" cy="575302"/>
          </a:xfrm>
          <a:prstGeom prst="line">
            <a:avLst/>
          </a:prstGeom>
          <a:ln w="28575">
            <a:solidFill>
              <a:srgbClr val="FBFBF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B5851203-64A6-F377-3343-1EC0C3A025F2}"/>
              </a:ext>
            </a:extLst>
          </p:cNvPr>
          <p:cNvSpPr/>
          <p:nvPr/>
        </p:nvSpPr>
        <p:spPr>
          <a:xfrm>
            <a:off x="659972" y="3769642"/>
            <a:ext cx="3618681" cy="2743729"/>
          </a:xfrm>
          <a:prstGeom prst="roundRect">
            <a:avLst/>
          </a:prstGeom>
          <a:noFill/>
          <a:ln w="25400">
            <a:solidFill>
              <a:srgbClr val="FBFBF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5FF9772E-B496-EDA4-223B-D0AF1DA6BD5C}"/>
              </a:ext>
            </a:extLst>
          </p:cNvPr>
          <p:cNvSpPr txBox="1"/>
          <p:nvPr/>
        </p:nvSpPr>
        <p:spPr>
          <a:xfrm>
            <a:off x="575034" y="3882257"/>
            <a:ext cx="37991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By applying a series of rules, </a:t>
            </a:r>
          </a:p>
          <a:p>
            <a:pPr algn="ctr"/>
            <a:r>
              <a:rPr lang="en-US" sz="3200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it is possible to reach a winning percentage of </a:t>
            </a:r>
            <a:r>
              <a:rPr lang="en-US" sz="32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49%</a:t>
            </a:r>
            <a:r>
              <a:rPr lang="en-US" sz="3200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it-IT" sz="3200" dirty="0">
              <a:solidFill>
                <a:srgbClr val="FBFBFA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5" name="Immagine 44" descr="Immagine che contiene cerchio&#10;&#10;Il contenuto generato dall'IA potrebbe non essere corretto.">
            <a:extLst>
              <a:ext uri="{FF2B5EF4-FFF2-40B4-BE49-F238E27FC236}">
                <a16:creationId xmlns:a16="http://schemas.microsoft.com/office/drawing/2014/main" id="{CDCB6485-4A74-A541-0A65-2853F294A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922" y="0"/>
            <a:ext cx="3281313" cy="3281313"/>
          </a:xfrm>
          <a:prstGeom prst="rect">
            <a:avLst/>
          </a:prstGeom>
        </p:spPr>
      </p:pic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381DE1AE-B836-107D-EE10-488B79DC4638}"/>
              </a:ext>
            </a:extLst>
          </p:cNvPr>
          <p:cNvCxnSpPr/>
          <p:nvPr/>
        </p:nvCxnSpPr>
        <p:spPr>
          <a:xfrm>
            <a:off x="5099900" y="1608350"/>
            <a:ext cx="0" cy="1480008"/>
          </a:xfrm>
          <a:prstGeom prst="line">
            <a:avLst/>
          </a:prstGeom>
          <a:ln>
            <a:solidFill>
              <a:srgbClr val="FBF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Immagine 51">
            <a:extLst>
              <a:ext uri="{FF2B5EF4-FFF2-40B4-BE49-F238E27FC236}">
                <a16:creationId xmlns:a16="http://schemas.microsoft.com/office/drawing/2014/main" id="{4B9DF2CD-C606-B545-630F-72CB0D44E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53" y="4999789"/>
            <a:ext cx="18290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0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262876-BD7F-C74C-8A83-BA10BE53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753F33-3971-BC33-0765-8C1014AC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53" y="76494"/>
            <a:ext cx="6464922" cy="127372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it-IT" sz="66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02 – Project </a:t>
            </a:r>
            <a:r>
              <a:rPr lang="it-IT" sz="6600" b="1" dirty="0">
                <a:solidFill>
                  <a:srgbClr val="6C656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Goals</a:t>
            </a:r>
          </a:p>
        </p:txBody>
      </p:sp>
      <p:pic>
        <p:nvPicPr>
          <p:cNvPr id="45" name="Immagine 44" descr="Immagine che contiene cerchio&#10;&#10;Il contenuto generato dall'IA potrebbe non essere corretto.">
            <a:extLst>
              <a:ext uri="{FF2B5EF4-FFF2-40B4-BE49-F238E27FC236}">
                <a16:creationId xmlns:a16="http://schemas.microsoft.com/office/drawing/2014/main" id="{FF05D1F4-7FF6-9E12-6C98-F69A259C5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689" y="259730"/>
            <a:ext cx="2987311" cy="2987311"/>
          </a:xfrm>
          <a:prstGeom prst="rect">
            <a:avLst/>
          </a:prstGeom>
        </p:spPr>
      </p:pic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E2034573-0C2F-64DC-E111-B0E13B265403}"/>
              </a:ext>
            </a:extLst>
          </p:cNvPr>
          <p:cNvCxnSpPr/>
          <p:nvPr/>
        </p:nvCxnSpPr>
        <p:spPr>
          <a:xfrm>
            <a:off x="11792932" y="3066233"/>
            <a:ext cx="0" cy="1480008"/>
          </a:xfrm>
          <a:prstGeom prst="line">
            <a:avLst/>
          </a:prstGeom>
          <a:ln>
            <a:solidFill>
              <a:srgbClr val="FBF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F89D518-33D5-C95A-B5EA-CDE069A0C29F}"/>
              </a:ext>
            </a:extLst>
          </p:cNvPr>
          <p:cNvSpPr txBox="1"/>
          <p:nvPr/>
        </p:nvSpPr>
        <p:spPr>
          <a:xfrm>
            <a:off x="326943" y="1239138"/>
            <a:ext cx="73529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 err="1">
                <a:solidFill>
                  <a:srgbClr val="DE3F3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BlackJack</a:t>
            </a:r>
            <a:r>
              <a:rPr lang="it-IT" sz="2800" b="1" dirty="0">
                <a:solidFill>
                  <a:srgbClr val="DE3F3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Advisor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aims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to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automatically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apply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rules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based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on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probabilistic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advantages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taking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sz="2800" dirty="0" err="1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as</a:t>
            </a:r>
            <a:r>
              <a:rPr lang="it-IT" sz="2800" dirty="0">
                <a:solidFill>
                  <a:srgbClr val="F2F2F2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input the image of a match.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BFCBF81F-3589-B826-1FAC-E9AFF3F1D90E}"/>
              </a:ext>
            </a:extLst>
          </p:cNvPr>
          <p:cNvSpPr/>
          <p:nvPr/>
        </p:nvSpPr>
        <p:spPr>
          <a:xfrm>
            <a:off x="413208" y="3300614"/>
            <a:ext cx="1913642" cy="1866507"/>
          </a:xfrm>
          <a:prstGeom prst="ellipse">
            <a:avLst/>
          </a:prstGeom>
          <a:solidFill>
            <a:srgbClr val="B1AD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Object </a:t>
            </a:r>
            <a:r>
              <a:rPr lang="it-IT" sz="20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Detection</a:t>
            </a:r>
            <a:r>
              <a:rPr lang="it-IT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with YOLO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0AC27533-E47B-BEF9-E3DD-C159A8A5C4EE}"/>
              </a:ext>
            </a:extLst>
          </p:cNvPr>
          <p:cNvSpPr/>
          <p:nvPr/>
        </p:nvSpPr>
        <p:spPr>
          <a:xfrm>
            <a:off x="3367086" y="4631996"/>
            <a:ext cx="1913642" cy="1866507"/>
          </a:xfrm>
          <a:prstGeom prst="ellipse">
            <a:avLst/>
          </a:prstGeom>
          <a:solidFill>
            <a:srgbClr val="6C65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0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9B6E3696-CC03-77D5-3F95-703E40C5301E}"/>
              </a:ext>
            </a:extLst>
          </p:cNvPr>
          <p:cNvSpPr/>
          <p:nvPr/>
        </p:nvSpPr>
        <p:spPr>
          <a:xfrm>
            <a:off x="6451613" y="3300614"/>
            <a:ext cx="1913642" cy="18665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87A673A5-B967-86E0-19A0-2637874FEEBE}"/>
              </a:ext>
            </a:extLst>
          </p:cNvPr>
          <p:cNvSpPr/>
          <p:nvPr/>
        </p:nvSpPr>
        <p:spPr>
          <a:xfrm>
            <a:off x="9405491" y="4631995"/>
            <a:ext cx="1913642" cy="1866507"/>
          </a:xfrm>
          <a:prstGeom prst="ellipse">
            <a:avLst/>
          </a:prstGeom>
          <a:solidFill>
            <a:srgbClr val="57575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Graphic User Interface (GUI)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EF553BF-E8B4-5B95-2A3D-ABD572240BF6}"/>
              </a:ext>
            </a:extLst>
          </p:cNvPr>
          <p:cNvSpPr txBox="1"/>
          <p:nvPr/>
        </p:nvSpPr>
        <p:spPr>
          <a:xfrm>
            <a:off x="3448686" y="5211305"/>
            <a:ext cx="1750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CNN</a:t>
            </a:r>
          </a:p>
          <a:p>
            <a:pPr algn="ctr"/>
            <a:r>
              <a:rPr lang="it-IT" sz="2000" b="1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Classification</a:t>
            </a:r>
            <a:endParaRPr lang="it-IT" sz="2000" b="1" dirty="0">
              <a:solidFill>
                <a:srgbClr val="FBFBFA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F1E3FD6-DFE1-E783-22BF-ABCCD65948E0}"/>
              </a:ext>
            </a:extLst>
          </p:cNvPr>
          <p:cNvSpPr txBox="1"/>
          <p:nvPr/>
        </p:nvSpPr>
        <p:spPr>
          <a:xfrm>
            <a:off x="6400108" y="3717899"/>
            <a:ext cx="20166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BJ</a:t>
            </a:r>
            <a:br>
              <a:rPr lang="it-IT" sz="20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it-IT" sz="2000" b="1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Fundamental</a:t>
            </a:r>
            <a:r>
              <a:rPr lang="it-IT" sz="20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algn="ctr"/>
            <a:r>
              <a:rPr lang="it-IT" sz="20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Strategy</a:t>
            </a:r>
          </a:p>
        </p:txBody>
      </p:sp>
      <p:cxnSp>
        <p:nvCxnSpPr>
          <p:cNvPr id="14" name="Connettore curvo 13">
            <a:extLst>
              <a:ext uri="{FF2B5EF4-FFF2-40B4-BE49-F238E27FC236}">
                <a16:creationId xmlns:a16="http://schemas.microsoft.com/office/drawing/2014/main" id="{34FBEF30-1235-C44F-9F8E-53DAC7D19B73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326850" y="4233868"/>
            <a:ext cx="1040236" cy="133138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curvo 15">
            <a:extLst>
              <a:ext uri="{FF2B5EF4-FFF2-40B4-BE49-F238E27FC236}">
                <a16:creationId xmlns:a16="http://schemas.microsoft.com/office/drawing/2014/main" id="{7589A42C-753D-CC86-BF68-A66C1EFD94A6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5280728" y="4233868"/>
            <a:ext cx="1170885" cy="133138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curvo 29">
            <a:extLst>
              <a:ext uri="{FF2B5EF4-FFF2-40B4-BE49-F238E27FC236}">
                <a16:creationId xmlns:a16="http://schemas.microsoft.com/office/drawing/2014/main" id="{C1F258E0-AAAC-F1E3-9004-9311BEA47B66}"/>
              </a:ext>
            </a:extLst>
          </p:cNvPr>
          <p:cNvCxnSpPr/>
          <p:nvPr/>
        </p:nvCxnSpPr>
        <p:spPr>
          <a:xfrm>
            <a:off x="8365255" y="4253024"/>
            <a:ext cx="1040236" cy="133138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7151F40D-D599-252A-05D1-3F1EC7BFDF56}"/>
              </a:ext>
            </a:extLst>
          </p:cNvPr>
          <p:cNvCxnSpPr/>
          <p:nvPr/>
        </p:nvCxnSpPr>
        <p:spPr>
          <a:xfrm>
            <a:off x="326943" y="1350215"/>
            <a:ext cx="0" cy="116674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5AE7F912-0434-1936-2AFD-F381E4391DF9}"/>
              </a:ext>
            </a:extLst>
          </p:cNvPr>
          <p:cNvSpPr txBox="1"/>
          <p:nvPr/>
        </p:nvSpPr>
        <p:spPr>
          <a:xfrm>
            <a:off x="3110261" y="2845576"/>
            <a:ext cx="6094428" cy="36933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it-IT" sz="1800" dirty="0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project </a:t>
            </a:r>
            <a:r>
              <a:rPr lang="it-IT" sz="1800" dirty="0" err="1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</a:t>
            </a:r>
            <a:r>
              <a:rPr lang="it-IT" sz="1800" dirty="0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sz="1800" dirty="0" err="1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developed</a:t>
            </a:r>
            <a:r>
              <a:rPr lang="it-IT" sz="1800" dirty="0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in </a:t>
            </a:r>
            <a:r>
              <a:rPr lang="it-IT" sz="1800" dirty="0" err="1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four</a:t>
            </a:r>
            <a:r>
              <a:rPr lang="it-IT" sz="1800" dirty="0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sz="1800" dirty="0" err="1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main</a:t>
            </a:r>
            <a:r>
              <a:rPr lang="it-IT" sz="1800" dirty="0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sz="1800" dirty="0" err="1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phases</a:t>
            </a:r>
            <a:r>
              <a:rPr lang="it-IT" sz="1800" dirty="0">
                <a:solidFill>
                  <a:srgbClr val="C330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720C93EF-79E9-15A6-2AE6-704A6E512C77}"/>
              </a:ext>
            </a:extLst>
          </p:cNvPr>
          <p:cNvCxnSpPr/>
          <p:nvPr/>
        </p:nvCxnSpPr>
        <p:spPr>
          <a:xfrm>
            <a:off x="216816" y="2818614"/>
            <a:ext cx="9916998" cy="0"/>
          </a:xfrm>
          <a:prstGeom prst="line">
            <a:avLst/>
          </a:prstGeom>
          <a:ln>
            <a:solidFill>
              <a:srgbClr val="FBFBF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51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38C05-B9A8-5CA6-CC53-26E18354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4C7459-F002-FC26-282F-135E1415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52" y="76494"/>
            <a:ext cx="7352905" cy="127372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pPr algn="ctr"/>
            <a:r>
              <a:rPr lang="it-IT" sz="6600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03 – Object </a:t>
            </a:r>
            <a:r>
              <a:rPr lang="it-IT" sz="6600" b="1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Detection</a:t>
            </a:r>
            <a:endParaRPr lang="it-IT" sz="6600" b="1" dirty="0">
              <a:solidFill>
                <a:srgbClr val="FBFBFA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C4DEDAA9-AF0D-0293-E0AF-06014C2949D8}"/>
              </a:ext>
            </a:extLst>
          </p:cNvPr>
          <p:cNvCxnSpPr/>
          <p:nvPr/>
        </p:nvCxnSpPr>
        <p:spPr>
          <a:xfrm>
            <a:off x="11946571" y="5140130"/>
            <a:ext cx="0" cy="1480008"/>
          </a:xfrm>
          <a:prstGeom prst="line">
            <a:avLst/>
          </a:prstGeom>
          <a:ln>
            <a:solidFill>
              <a:srgbClr val="FBF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568619A9-5BC3-30E2-FF75-B69230F37309}"/>
              </a:ext>
            </a:extLst>
          </p:cNvPr>
          <p:cNvCxnSpPr/>
          <p:nvPr/>
        </p:nvCxnSpPr>
        <p:spPr>
          <a:xfrm>
            <a:off x="322078" y="1491270"/>
            <a:ext cx="0" cy="1166742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8D02D3-5661-94F3-4DA7-80928AB08CC5}"/>
              </a:ext>
            </a:extLst>
          </p:cNvPr>
          <p:cNvSpPr txBox="1"/>
          <p:nvPr/>
        </p:nvSpPr>
        <p:spPr>
          <a:xfrm>
            <a:off x="1212190" y="1231460"/>
            <a:ext cx="56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For the first </a:t>
            </a:r>
            <a:r>
              <a:rPr lang="it-IT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phase</a:t>
            </a:r>
            <a:r>
              <a:rPr lang="it-IT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</a:t>
            </a:r>
            <a:r>
              <a:rPr lang="it-IT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YOLO</a:t>
            </a:r>
            <a:r>
              <a:rPr lang="it-IT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</a:t>
            </a:r>
            <a:r>
              <a:rPr lang="it-IT" b="1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You</a:t>
            </a:r>
            <a:r>
              <a:rPr lang="it-IT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b="1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Only</a:t>
            </a:r>
            <a:r>
              <a:rPr lang="it-IT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Look </a:t>
            </a:r>
            <a:r>
              <a:rPr lang="it-IT" b="1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Ones</a:t>
            </a:r>
            <a:r>
              <a:rPr lang="it-IT" b="1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</a:t>
            </a:r>
            <a:r>
              <a:rPr lang="it-IT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was</a:t>
            </a:r>
            <a:r>
              <a:rPr lang="it-IT" dirty="0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it-IT" dirty="0" err="1">
                <a:solidFill>
                  <a:srgbClr val="FBFBFA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used</a:t>
            </a:r>
            <a:endParaRPr lang="it-IT" dirty="0">
              <a:solidFill>
                <a:srgbClr val="FBFBFA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2" name="Immagine 11" descr="Immagine che contiene Elementi grafici, clipart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053EB5C8-10ED-B479-3B4B-D8D9E78DC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283" y="1231460"/>
            <a:ext cx="4138184" cy="2197540"/>
          </a:xfrm>
          <a:prstGeom prst="rect">
            <a:avLst/>
          </a:prstGeom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BCA144DA-A486-F297-FB75-AA569C4C8B9D}"/>
              </a:ext>
            </a:extLst>
          </p:cNvPr>
          <p:cNvSpPr/>
          <p:nvPr/>
        </p:nvSpPr>
        <p:spPr>
          <a:xfrm>
            <a:off x="1577776" y="2074641"/>
            <a:ext cx="4949066" cy="1385741"/>
          </a:xfrm>
          <a:prstGeom prst="roundRect">
            <a:avLst/>
          </a:prstGeom>
          <a:noFill/>
          <a:ln w="25400">
            <a:solidFill>
              <a:srgbClr val="FBFBFA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YOLO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en-US" dirty="0"/>
              <a:t>an efficient </a:t>
            </a:r>
            <a:r>
              <a:rPr lang="en-US" b="1" dirty="0"/>
              <a:t>deep learning </a:t>
            </a:r>
            <a:r>
              <a:rPr lang="en-US" dirty="0"/>
              <a:t>algorithm based on </a:t>
            </a:r>
            <a:r>
              <a:rPr lang="en-US" b="1" dirty="0"/>
              <a:t>CNN</a:t>
            </a:r>
            <a:r>
              <a:rPr lang="en-US" dirty="0"/>
              <a:t>, which identifies and localizes objects within an image.</a:t>
            </a:r>
            <a:endParaRPr lang="it-IT" dirty="0"/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9C6DACFE-FFA2-6897-30C7-E34B4B40EB7B}"/>
              </a:ext>
            </a:extLst>
          </p:cNvPr>
          <p:cNvCxnSpPr>
            <a:cxnSpLocks/>
            <a:stCxn id="4" idx="2"/>
            <a:endCxn id="13" idx="0"/>
          </p:cNvCxnSpPr>
          <p:nvPr/>
        </p:nvCxnSpPr>
        <p:spPr>
          <a:xfrm>
            <a:off x="4052309" y="1600792"/>
            <a:ext cx="0" cy="473849"/>
          </a:xfrm>
          <a:prstGeom prst="line">
            <a:avLst/>
          </a:prstGeom>
          <a:ln w="25400">
            <a:solidFill>
              <a:srgbClr val="FBFBF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Immagine 21">
            <a:extLst>
              <a:ext uri="{FF2B5EF4-FFF2-40B4-BE49-F238E27FC236}">
                <a16:creationId xmlns:a16="http://schemas.microsoft.com/office/drawing/2014/main" id="{96115BBC-2550-89AE-51BB-051B75A97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248" y="3786806"/>
            <a:ext cx="2907532" cy="2907532"/>
          </a:xfrm>
          <a:prstGeom prst="rect">
            <a:avLst/>
          </a:prstGeom>
        </p:spPr>
      </p:pic>
      <p:pic>
        <p:nvPicPr>
          <p:cNvPr id="24" name="Immagine 23" descr="Immagine che contiene testo, Gioco di carte, schermata, Giochi&#10;&#10;Il contenuto generato dall'IA potrebbe non essere corretto.">
            <a:extLst>
              <a:ext uri="{FF2B5EF4-FFF2-40B4-BE49-F238E27FC236}">
                <a16:creationId xmlns:a16="http://schemas.microsoft.com/office/drawing/2014/main" id="{3EE47797-42D5-085F-07B4-48353C04F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918" y="3786806"/>
            <a:ext cx="2907529" cy="2908800"/>
          </a:xfrm>
          <a:prstGeom prst="rect">
            <a:avLst/>
          </a:prstGeom>
        </p:spPr>
      </p:pic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3208A220-1580-6AC9-9FBB-B74DEC8601F9}"/>
              </a:ext>
            </a:extLst>
          </p:cNvPr>
          <p:cNvSpPr/>
          <p:nvPr/>
        </p:nvSpPr>
        <p:spPr>
          <a:xfrm>
            <a:off x="5078839" y="4993826"/>
            <a:ext cx="1161288" cy="2926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84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434436-2E16-109C-D264-9605A5927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YOLO </a:t>
            </a:r>
            <a:r>
              <a:rPr lang="it-IT" dirty="0" err="1"/>
              <a:t>Results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5918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422EB7-E8E5-1173-F527-01F452C2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04 - CNN </a:t>
            </a:r>
            <a:r>
              <a:rPr lang="it-IT" dirty="0" err="1"/>
              <a:t>Classification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096EFE-81CB-49A4-AAA3-04AEDEBC5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Come abbiamo visto, la nostra CNN è della tipologia nominata a doppia testa, in quanto progettata per effettuare due classificazioni indipendenti a partire dalla stessa immagine di input.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Immagine Architettura</a:t>
            </a:r>
          </a:p>
        </p:txBody>
      </p:sp>
    </p:spTree>
    <p:extLst>
      <p:ext uri="{BB962C8B-B14F-4D97-AF65-F5344CB8AC3E}">
        <p14:creationId xmlns:p14="http://schemas.microsoft.com/office/powerpoint/2010/main" val="740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25A933-F091-EABF-E2A4-8D010087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Train e </a:t>
            </a:r>
            <a:r>
              <a:rPr lang="it-IT" dirty="0" err="1"/>
              <a:t>results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F57F83-D5A2-CF37-4753-1CAC1578A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6112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8797C3-C6B0-9A5B-98CE-2383CA14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05 – </a:t>
            </a:r>
            <a:r>
              <a:rPr lang="it-IT" dirty="0" err="1"/>
              <a:t>Fundamental</a:t>
            </a:r>
            <a:r>
              <a:rPr lang="it-IT" dirty="0"/>
              <a:t> Strategy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4F5179-D4FF-67C8-22F8-75B63CB5B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19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AD209A-3D03-9963-16DE-177A8BC26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06 - GUI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036D03-594C-5C84-2072-07D398EC5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82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3BEE52-A13F-B375-9B2B-1E42F44E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33F2ED-9942-BD0E-EC02-28F85107C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14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073E10-B8EB-A35E-EE3B-B93B52EA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2C72FB-DEF1-6261-D758-9B1B2A7EE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890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9F13E1-CBD5-E130-6E99-A8018C6C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FUTURE DEVELOPS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AA36E3-B762-D7E3-CA6A-2032EB131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4863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1A632-D621-CED3-CE21-EECD2017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Link e partecipanti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1F5E75B-9E44-58C6-B64B-3759F1926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8173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3D1B7C-AC19-2EC6-6611-97E1238F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F04ACC-E37E-68E9-C7EA-F53A6F009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Il gioco d’azzardo può causare dipendenza patologica!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4174536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dazioni di grigio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</TotalTime>
  <Words>214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Rockwell Nova</vt:lpstr>
      <vt:lpstr>Source Sans Pro</vt:lpstr>
      <vt:lpstr>Office Theme</vt:lpstr>
      <vt:lpstr>BlackJack  Advisor</vt:lpstr>
      <vt:lpstr>01 - Introduction</vt:lpstr>
      <vt:lpstr>02 – Project Goals</vt:lpstr>
      <vt:lpstr>03 – Object Detection</vt:lpstr>
      <vt:lpstr>Presentazione standard di PowerPoint</vt:lpstr>
      <vt:lpstr>04 - CNN Classification</vt:lpstr>
      <vt:lpstr>Train e results</vt:lpstr>
      <vt:lpstr>05 – Fundamental Strategy</vt:lpstr>
      <vt:lpstr>06 - GUI</vt:lpstr>
      <vt:lpstr>ESEMPIO 1</vt:lpstr>
      <vt:lpstr>ESEMPIO 2</vt:lpstr>
      <vt:lpstr>FUTURE DEVELOPS</vt:lpstr>
      <vt:lpstr>Link e partecipanti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Ciarravano</dc:creator>
  <cp:lastModifiedBy>Giovanni Ciarravano</cp:lastModifiedBy>
  <cp:revision>2</cp:revision>
  <dcterms:created xsi:type="dcterms:W3CDTF">2025-06-25T14:31:07Z</dcterms:created>
  <dcterms:modified xsi:type="dcterms:W3CDTF">2025-06-28T11:26:03Z</dcterms:modified>
</cp:coreProperties>
</file>